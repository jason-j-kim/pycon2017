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대화와 데이터로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검증하는 정책 아이디어 평가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 제안을 소크라테스식 문답으로 구조화하고, 국가 데이터 4종으로 선례를 확인합니다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 · 5단계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이원 채점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2776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 4개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32704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KDI 발간물 7,362건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42632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OPSI 1,015건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연구자·정책 담당자 설명자료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요약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78308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1783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178308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제안한 정책 아이디어를 AI가 문답으로 캐묻고, 국가 데이터로 선례를 확인해 평가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42316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24231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72768" y="24231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제안은 대량으로 접수되지만, 선례 확인과 성의 있는 회신은 담당자 개인 역량에 의존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6324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0632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72768" y="30632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소크라테스 문답 12개 → ② 이원 채점 → ③ 검증 통로 4개로 실질 독창성 판정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70332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70332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572768" y="37033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하나가 아니라 근거·확신도·철회조건이 붙은 판정과 다음 행동 제시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 —  먼저 대화하고, 그 대화를 근거로 평가한다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순서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" y="1892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" y="25877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26426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등록제의 구조적 병목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7832" y="1783080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74136" y="1892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74136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74136" y="25877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3374136" y="26426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두 개의 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9904" y="1783080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36208" y="1892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36208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대화와 채점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36208" y="25877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26426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12문답과 이원 채점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136392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12064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12064" y="364845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 4개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" y="3941064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" y="399592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재정·KDI·의안·해외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27832" y="3136392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74136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374136" y="364845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믿을 수 있나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374136" y="3941064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3374136" y="399592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등급과 오판 방지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89904" y="3136392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36208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236208" y="364845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구축과 운영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36208" y="3941064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399592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· 비용 · 다음 단계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왜 필요한가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등록제의 구조적 병목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제안은 국민 단위로 들어오는데, 검증은 담당자 한 사람의 시간과 기억에 의존합니다.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201168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75488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 누구나 상시 제안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51176" y="2148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51176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51176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660904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선례 확인은 개인 검색에 의존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2148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36592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지연·형식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4846320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회신 → 제안자 이탈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22008" y="2148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22008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22008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흩어짐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031736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이력이 자산으로 남지 않음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675888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776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병목의 본질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011680" y="3749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"이미 있는 정책인가?"를 확인하려면 예산·연구·입법·해외를 각각 뒤져야 하는데,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작업은 제안 한 건마다 반복되며 사람의 기억으로는 재현되지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왜 필요한가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방식의 세 가지 한계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402336"/>
          </a:xfrm>
          <a:prstGeom prst="rect">
            <a:avLst/>
          </a:prstGeom>
          <a:solidFill>
            <a:srgbClr val="8A93A8"/>
          </a:solidFill>
          <a:ln w="12700">
            <a:solidFill>
              <a:srgbClr val="8A9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783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(사람 손)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1783080"/>
            <a:ext cx="4114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783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시스템 (대화 + 데이터)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860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2286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제안서를 끝까지 읽어야 뜻을 안다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228600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2860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286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문답으로 대상·수단·재원을 끌어냄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926080"/>
            <a:ext cx="4114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9260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2926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선례 확인이 담당자 검색 역량에 좌우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29260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926080"/>
            <a:ext cx="4114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9260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2926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국가 데이터를 동일한 절차로 조회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5661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566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3566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 후 회신" 식 형식적 답변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80560" y="356616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5661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566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20640" y="3566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근거·확신도·다음 행동을 문서로 제시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채점기가 아니라, 캐묻는 대화 + 근거 있는 선례 확인이 필요합니다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왜 필요한가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무엇이 필요한가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6791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" y="23042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캐묻는 대화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30352" y="2651760"/>
            <a:ext cx="2350008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61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67512" y="27614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제안자가 스스로 설계를 진술하게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30352" y="312724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67512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대상·수단·전달경로·재원을 확보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30352" y="34930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67512" y="3493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반증 조건까지 답하게 유도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30352" y="385876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67512" y="38587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제안서의 공백을 메움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3227832" y="1783080"/>
            <a:ext cx="26791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92424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392424" y="23042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대조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392424" y="2651760"/>
            <a:ext cx="2350008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3392424" y="2761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3529584" y="27614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예산·연구·입법·해외를 교차 확인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3392424" y="312724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3529584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절차와 판정 규칙을 문서로 고정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3392424" y="34930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529584" y="3493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근거를 인용 가능한 형태로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3392424" y="385876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3529584" y="38587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제안을 초기에 식별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089904" y="1783080"/>
            <a:ext cx="26791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54496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254496" y="23042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판정의 절제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254496" y="2651760"/>
            <a:ext cx="2350008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6254496" y="2761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391656" y="27614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범위까지만 말한다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6254496" y="312724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391656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확신도와 철회조건을 함께 제시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6254496" y="34930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6391656" y="3493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미발견을 독창성 확정으로 쓰지 않음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6254496" y="385876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6391656" y="38587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결정은 사람이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365760" y="45445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"평가의 목적은 등수를 매기는 것이 아니라, 제안을 다음 단계로 보낼 수 있게 만드는 것"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무엇인가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대원칙 — 먼저 대화, 그 다음 평가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1234440"/>
          </a:xfrm>
          <a:prstGeom prst="rect">
            <a:avLst/>
          </a:prstGeom>
          <a:solidFill>
            <a:srgbClr val="FDF2F2"/>
          </a:solidFill>
          <a:ln w="12700">
            <a:solidFill>
              <a:srgbClr val="F0C0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 않는 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2212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문장만 보고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곧바로 선례를 검색해 판정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1783080"/>
            <a:ext cx="4114800" cy="1234440"/>
          </a:xfrm>
          <a:prstGeom prst="rect">
            <a:avLst/>
          </a:prstGeom>
          <a:solidFill>
            <a:srgbClr val="F0F9F3"/>
          </a:solidFill>
          <a:ln w="12700">
            <a:solidFill>
              <a:srgbClr val="B8DCC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212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12문답으로 설계를 끌어낸 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대화 내용을 근거로 조회·판정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3154680"/>
            <a:ext cx="84124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순서인가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361188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" y="361188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제안문에는 대상·전달경로·재원이 대개 빠져 있어, 그대로 검색하면 엉뚱한 선례가 걸린다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3867912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" y="38679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거치면 "무엇이 실제로 새로운 부분인지"가 특정되어, 조회 질의가 정확해진다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4123944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" y="412394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제안자가 스스로 약점을 말하게 되므로, 평가가 일방적 판정이 아니라 상호 검증이 된다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무엇인가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 — 3단계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83080"/>
            <a:ext cx="251460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83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2402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소크라테스 문답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615184"/>
            <a:ext cx="19659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24912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85800" y="2724912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질문 · 5단계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48640" y="3008376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85800" y="3008376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명료화 → 독창성 → 실용성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85800" y="3291840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수용태도 → 자기평가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48640" y="3575304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85800" y="357530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15분 소요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935224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355848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55848" y="1783080"/>
            <a:ext cx="251460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1783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93008" y="22402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이원 채점 + 선례 조사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30168" y="2615184"/>
            <a:ext cx="19659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3538728" y="2724912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3675888" y="2724912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30항목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538728" y="3008376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3675888" y="3008376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종합 판단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3538728" y="3291840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3675888" y="3291840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 4개 조회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3538728" y="3575304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3675888" y="357530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실질 독창성 판정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92531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345936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45936" y="1783080"/>
            <a:ext cx="251460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6345936" y="1783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83096" y="22402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5문장 결과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620256" y="2615184"/>
            <a:ext cx="19659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6528816" y="2724912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6665976" y="2724912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현재가치 · 잠재가치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6528816" y="3008376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6665976" y="3008376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핵심위험 · 근거신뢰도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6528816" y="3291840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6665976" y="3291840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검증행동</a:t>
            </a:r>
            <a:endParaRPr lang="en-US" sz="1020" dirty="0"/>
          </a:p>
        </p:txBody>
      </p:sp>
      <p:sp>
        <p:nvSpPr>
          <p:cNvPr id="59" name="Text 57"/>
          <p:cNvSpPr/>
          <p:nvPr/>
        </p:nvSpPr>
        <p:spPr>
          <a:xfrm>
            <a:off x="6528816" y="3575304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6665976" y="357530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+ 2×2 위치 판정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문답이 끝나기 전에는 선례 조사를 시작하지 않습니다 — 대화가 조회의 입력이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무엇인가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축 — 역할 분담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83080"/>
            <a:ext cx="41148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83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 ·  대화 채점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230428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"제안이 얼마나 잘 방어되는가"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2651760"/>
            <a:ext cx="35661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8892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04088" y="278892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12문답에서 드러난 진술을 평가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66928" y="3118104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04088" y="311810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30항목 + 종합판단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6928" y="344728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04088" y="344728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 35% · 실용성 35% · 수용태도 30%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66928" y="377647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04088" y="377647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산출: 0~10 점수 + 불일치 폭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663440" y="178308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783080"/>
            <a:ext cx="4114800" cy="384048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783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B  ·  선례 검증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28032" y="230428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아이디어가 실제로 새로운가"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37760" y="2651760"/>
            <a:ext cx="35661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278892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001768" y="278892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데이터 4개 통로를 조회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4864608" y="3118104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5001768" y="311810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결과와 설계를 대조해 판정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4864608" y="344728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001768" y="344728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등급 A급 / B급 구분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4864608" y="377647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5001768" y="377647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산출: 4구간 밴드 + 확신도 + 근거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축은 서로 다른 질문에 답합니다 —  "말을 잘했는가(A)"와 "실제로 새로운가(B)"는 별개입니다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① — 12문답 5단계 구조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명료화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정의로 압축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대상·문제·방법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10312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210312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10312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28600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217627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해법과의 차이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모방 어려운 차별점인가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048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4048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02336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391363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자원과 최대 장애물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실행 버전(MVP)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7784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76072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565099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쓰고 왜 갈아타나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반대할 이해관계자는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1520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자기평가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31520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1문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749808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738835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꼽는 최대 약점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보완 방안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4297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874520" y="427939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기준(독창성·실용성·수용태도)마다 3문씩 배정해, 점수의 근거가 될 진술을 반드시 확보합니다.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자기평가 1문은 제안자가 스스로 약점을 인정하는지를 보는 항목으로, 수용태도 채점에 직결됩니다.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② — 질문은 무엇을 캐내는가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783080"/>
            <a:ext cx="41148" cy="512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1783080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명료화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1783080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· 문제 · 방법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11880" y="17830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"누구의 어떤 문제를 어떻게"를 한 문장으로 합의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359152"/>
            <a:ext cx="84124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359152"/>
            <a:ext cx="41148" cy="5120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359152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235915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 · 공백의 이유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11880" y="23591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해법 식별 → 차이 진술 → 왜 아직 없었나 → 모방 장벽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93522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935224"/>
            <a:ext cx="41148" cy="512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93522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54480" y="293522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· 장애물 · MVP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11880" y="293522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인력·예산, 최대 장애물과 대응, 단계적 실행 경로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511296"/>
            <a:ext cx="84124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511296"/>
            <a:ext cx="41148" cy="51206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51129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554480" y="351129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· 전환비용 · 반대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11880" y="351129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갈아타는가, 손해 보는 이해관계자는 누구인가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08736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087368"/>
            <a:ext cx="41148" cy="512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0873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자기평가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554480" y="408736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인정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11880" y="408736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약점 하나와 보완 방안 — 정직성의 지표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질문자는 답을 평가하지 않습니다 — 캐묻기만 하고, 채점은 대화가 끝난 뒤 별도로 수행됩니다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③ — 이원 채점: 두 번 재고 평균한다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체크리스트 채점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기계적 · 재현 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257860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257860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기준마다 이진 항목 10개 (총 30개)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29077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" y="290779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사건이 대화에 있었는가"로만 판정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2369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" y="3236976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충족 개수 = 그대로 0~10점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5661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" y="356616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기준이 문서로 고정되어 있음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종합 판단 채점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맥락적 · 질을 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257860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01768" y="257860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전체를 읽고 기준별 0~10점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64608" y="29077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01768" y="290779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충족 여부로 잡히지 않는 깊이 반영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32369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01768" y="3236976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근거(rationale)를 함께 기록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35661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01768" y="356616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강점·보완점·격려 문구 생성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233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기준별 최종점수  =  ( 체크리스트 점수  +  종합판단 점수 )  ÷  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종합점수 = 독창성 35% + 실용성 35% + 수용태도 30% 가중 평균  (가중치 고정)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④ — 체크리스트 30항목 (기준별 10개)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37360"/>
            <a:ext cx="267919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37360"/>
            <a:ext cx="2679192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3736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 O1~O10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" y="215798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O1 기존 해법 식별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12064" y="238201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O2 차별점 명시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12064" y="260604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O3 차별점의 검증 가능성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12064" y="28300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O4 공백의 설명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12064" y="305409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O5 모방 장벽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12064" y="327812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O6 관점 전환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12064" y="350215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O7 새로움–가치 연결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12064" y="37261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O8 반례 대응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12064" y="395020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O9 한계 인정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512064" y="417423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O10 무모순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3227832" y="1737360"/>
            <a:ext cx="267919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27832" y="1737360"/>
            <a:ext cx="2679192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3227832" y="173736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 P1~P10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74136" y="215798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 자원 구체화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3374136" y="238201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 MVP 정의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374136" y="260604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 핵심 장애물 식별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3374136" y="28300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 장애물 대응책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3374136" y="305409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 구현 경로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3374136" y="327812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P6 비용 대비 효과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3374136" y="350215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P7 운영 주체 특정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374136" y="37261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P8 단계적 경로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3374136" y="395020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P9 실행 리스크 인정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3374136" y="417423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P10 무모순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6089904" y="1737360"/>
            <a:ext cx="267919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89904" y="1737360"/>
            <a:ext cx="2679192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6089904" y="173736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 A1~A10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36208" y="215798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수용 주체 특정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6236208" y="238201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 상대적 이점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6236208" y="260604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 전환 비용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6236208" y="28300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 적합성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6236208" y="305409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A5 시험 가능성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6236208" y="327812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A6 반대 세력 식별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6236208" y="350215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A7 저항 대응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6236208" y="37261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A8 확산 경로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6236208" y="395020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A9 수용 리스크 인정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6236208" y="417423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A10 무모순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항목은 "있었다/없었다"로만 판정 —  주관적 인상이 아니라 대화에서 확인 가능한 사건입니다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⑤ — 체크리스트의 이론적 근거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항목을 임의로 만들지 않고, 각 기준마다 확립된 평가 프레임을 채택했습니다.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48840"/>
            <a:ext cx="4572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1488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22219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Runco &amp; Jaeger — 창의성 표준 정의 (새로움 + 유용성)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Dean et al. (2006) — 아이디어 평가 구인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65760" y="2953512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53512"/>
            <a:ext cx="4572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2953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57400" y="30266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TELOS 타당성 프레임워크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Real-Win-Worth (Day, HBR 2007) · 린 스타트업 MVP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65760" y="375818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58184"/>
            <a:ext cx="4572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75818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57400" y="38313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Rogers — 혁신 확산 이론 5속성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Davis — 기술수용모형(TAM)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근거는 별도 문서(checklist-rationale)에 정리되어 있어, 외부 검토·수정이 가능합니다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⑥ — 두 채점의 불일치를 숨기지 않는다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기계적 채점(체크리스트)과 맥락적 채점(종합판단)이 어긋난다는 것은,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평가 자체가 불확실하다는 신호입니다. 이 차이를 숨기지 않고 점수 범위로 표시합니다.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80360"/>
            <a:ext cx="45720" cy="68580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채점이 일치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7 · 종합 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7.0 (범위 좁음)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880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신뢰 높음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57600"/>
            <a:ext cx="45720" cy="6858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채점이 어긋남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3657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8 · 종합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6.0 (범위 넓음)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확인 필요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"6.0 (5.2–6.8)" 형태로 제시 — 통계적 신뢰구간이 아니라 두 채점의 편차 폭입니다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⑦ — 산출물 ①: 5문장 결과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점수를 만들지 않고, 이미 산출된 채점 결과를 담당자가 읽을 서술로 묶습니다.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194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103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가치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210312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근거로 방어 가능한 수준은 얼마이며, 가장 탄탄한 축은 무엇인가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15184"/>
            <a:ext cx="8412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70662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26151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 가치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2615184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보완되면 어디까지 갈 수 있는가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12724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2186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3127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위험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60320" y="3127248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제안을 무너뜨릴 가장 큰 요인은 무엇인가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639312"/>
            <a:ext cx="8412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73075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36393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신뢰도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0" y="3639312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판단이 어느 정도 근거에 서 있는가 (범위 · 확신도)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151376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24281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4400" y="4151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검증행동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560320" y="4151376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확인하면 판정이 바뀌는가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제안자에게 그대로 회신할 수 있는 형태 — "검토 후 회신"을 대체합니다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⑧ — 산출물 ②: 2×2 위치 판정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A(방어력)와 축 B(실질 독창성)를 교차해 담당자의 다음 행동을 지정합니다.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084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실질 독창성 (축 B)  높음  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8E8"/>
          </a:solidFill>
          <a:ln w="1524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244144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후 재문답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2770632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독창적이나 근거 부족 —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문답을 보완해 방어력 확보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4114800" cy="1005840"/>
          </a:xfrm>
          <a:prstGeom prst="rect">
            <a:avLst/>
          </a:prstGeom>
          <a:solidFill>
            <a:srgbClr val="F0F9F3"/>
          </a:solidFill>
          <a:ln w="1524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28032" y="244144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2770632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독창적이고 방어력도 충분 —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이관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01568"/>
            <a:ext cx="4114800" cy="1005840"/>
          </a:xfrm>
          <a:prstGeom prst="rect">
            <a:avLst/>
          </a:prstGeom>
          <a:solidFill>
            <a:srgbClr val="F5F5F5"/>
          </a:solidFill>
          <a:ln w="15240">
            <a:solidFill>
              <a:srgbClr val="8A93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" y="3511296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" y="384048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새롭지도 방어되지도 않음 —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제안자에게 근거와 함께 회신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401568"/>
            <a:ext cx="4114800" cy="1005840"/>
          </a:xfrm>
          <a:prstGeom prst="rect">
            <a:avLst/>
          </a:prstGeom>
          <a:solidFill>
            <a:srgbClr val="EFF4FB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3511296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사업 개선으로 재포지셔닝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384048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방어는 되나 선례 존재 —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사업 개선안으로 전환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방어력 낮음 (축 A)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344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방어력 높음 (축 A)  ▶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보류(확신도 부족) 시에는 이 칸을 표시하지 않습니다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B — 검증 통로 4개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소스는 서로 다른 질문에 답합니다. 하나라도 빠지면 "없다"는 결론을 신뢰할 수 없습니다.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03120"/>
            <a:ext cx="201168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재정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예산이 붙어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집행되었나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세출예산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5개 연도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78992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51176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51176" y="2103120"/>
            <a:ext cx="201168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2551176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KDI 연구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642616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연구로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검토되었나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79776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2642616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KDI 발간물 7,362건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(정책연구 1,178)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64408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36592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36592" y="2103120"/>
            <a:ext cx="201168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4736592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국회 의안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28032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입법이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시도되었나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965192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발의 · 의결현황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포함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49824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9824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22008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22008" y="2103120"/>
            <a:ext cx="2011680" cy="384048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47" name="Text 45"/>
          <p:cNvSpPr/>
          <p:nvPr/>
        </p:nvSpPr>
        <p:spPr>
          <a:xfrm>
            <a:off x="6922008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해외사례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013448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나라가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시행했나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150608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8"/>
          <p:cNvSpPr/>
          <p:nvPr/>
        </p:nvSpPr>
        <p:spPr>
          <a:xfrm>
            <a:off x="7013448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OECD OPSI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1,015건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35240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E8EE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 · 검토 · 입법 · 해외 — 한 질문에 한 소스. 교차 확인이 판정의 근거가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 ① 재정 · ③ 국회 의안 — 집행과 입법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재정 (세출예산)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"예산이 붙어 집행되었나"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260604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04088" y="2606040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사업명 + 예산 시계열을 조회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66928" y="2953512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04088" y="295351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연도 예산이 0이면 종료된 사업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66928" y="3300984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704088" y="3300984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존재 = 집행의 직접 증거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66928" y="3648456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04088" y="3648456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제목만으로는 설계 동일성을 알 수 없음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국회 의안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"입법이 시도되었나"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64608" y="260604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001768" y="2606040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의안명 + 발의자 + 의결현황 조회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4864608" y="2953512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001768" y="295351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법률안은 제안이유·주요내용 본문까지 확보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4864608" y="3300984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5001768" y="3300984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가결 = 제도화 완료 / 부결 = 강한 반증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4864608" y="3648456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5001768" y="3648456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임기만료폐기는 기각이 아님 — 감점 근거로 쓰지 않음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FFF8E8"/>
          </a:solidFill>
          <a:ln w="12700">
            <a:solidFill>
              <a:srgbClr val="E8D5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371600" y="427939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 발의안 상당수는 심사가 끝나지 않은 채 "임기만료폐기"로 사라집니다.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"국회에서 폐기된 아이디어"로 읽으면 오판이므로, 판정 규칙에서 명시적으로 배제했습니다.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 ② KDI 연구 — 2차원 판정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007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키워드 일치가 아니라, 아이디어를 대상×수단×영역으로 분해해 문헌마다 두 축으로 판정합니다.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084832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084832"/>
            <a:ext cx="411480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084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중첩도 — 얼마나 겹치는가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2523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97280" y="2523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3축이 한 자리에서 일치 — 신규 아님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852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728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하나가 다르거나 흩어져 있음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1821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97280" y="31821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하나만 강하게 겹침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5112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97280" y="35112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영역만 중첩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084832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084832"/>
            <a:ext cx="4114800" cy="329184"/>
          </a:xfrm>
          <a:prstGeom prst="rect">
            <a:avLst/>
          </a:prstGeom>
          <a:solidFill>
            <a:srgbClr val="1E4E8C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084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— 어떻게 쓸 것인가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2523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4068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제도화·집행 — 강한 반증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2852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경합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4068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수단을 이미 제안 — 차별화 필요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182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4068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효과분석만 — 인용해 정당화에 사용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511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선례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4068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영역은 다르나 설계 참조 가능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3840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4068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없음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"중첩도가 높다"와 "위협적이다"는 다릅니다 — 같은 주제라도 역할이 '근거'면 감점이 아니라 인용처입니다.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 ④ 해외사례 — OECD OPSI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01168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사례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51176" y="17830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51176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551176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17830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36592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36592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확보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22008" y="17830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22008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22008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수준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852928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2064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답하는가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" y="32735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33649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49224" y="336499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정부가 실제로 시행했는가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12064" y="36941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49224" y="369417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미발견이어도 해외 선례 반영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12064" y="40233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649224" y="40233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"국내 최초"와 "세계 최초"를 구분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3227832" y="2852928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74136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들어 있나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374136" y="32735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3374136" y="33649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3511296" y="336499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문제·해법·혁신요소·성과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3374136" y="36941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3511296" y="369417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실패요인·성공조건·복제 가능성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3374136" y="40233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3511296" y="40233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제목만이 아니라 설계 본문까지 대조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6089904" y="2852928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36208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확보했나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36208" y="32735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6236208" y="33649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6373368" y="336499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OECD 공개 사례를 정리해 로컬 코퍼스 구축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6236208" y="36941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6373368" y="369417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수집 차단 시 우회하지 않음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6236208" y="40233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6373368" y="40233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기관이 설명할 수 있는 방식만 채택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365760" y="4590288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5902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A급(해외·자기신고) — 각국이 스스로 신고한 사례로, 성과는 독립 검증되지 않았습니다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왜 믿을 수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등급 — A급과 B급을 섞지 않는다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1965960"/>
          </a:xfrm>
          <a:prstGeom prst="rect">
            <a:avLst/>
          </a:prstGeom>
          <a:solidFill>
            <a:srgbClr val="F0F9F3"/>
          </a:solidFill>
          <a:ln w="1524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A급 — 조회로 확인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2286000"/>
            <a:ext cx="3785616" cy="10973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37744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" y="237744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A급: 재정·KDI·의안 조회 결과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26974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" y="269748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A급(해외): OPSI — 각국 자기신고, 성과 미검증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0175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301752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사업명·연도·부처·예산·의안명 인용 가능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333756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" y="333756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설계가 같음을 함께 논증해야 감점 근거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783080"/>
            <a:ext cx="4114800" cy="1965960"/>
          </a:xfrm>
          <a:prstGeom prst="rect">
            <a:avLst/>
          </a:prstGeom>
          <a:solidFill>
            <a:srgbClr val="FFF8E8"/>
          </a:solidFill>
          <a:ln w="1524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B급 — 모델의 기억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28032" y="2286000"/>
            <a:ext cx="3785616" cy="10973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37744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65192" y="237744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조회로 검증되지 않은 AI의 배경지식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26974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65192" y="269748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고유명사(사업명·연도) 인용 금지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28032" y="30175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65192" y="301752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"유사 취지의 바우처 계열이 존재" 수준의 유형 진술만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886200"/>
            <a:ext cx="8412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구분하는가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6928" y="42976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" y="42976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그럴듯하게 지어낸 사업명이 공문서에 인용되는 것을 구조적으로 차단합니다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" y="457200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088" y="45720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담당자는 A급 근거만 그대로 인용하고, B급은 "확인이 필요한 단서"로 취급하면 됩니다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왜 믿을 수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미발견은 독창성을 확정하지 않는다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8412480" cy="868680"/>
          </a:xfrm>
          <a:prstGeom prst="rect">
            <a:avLst/>
          </a:prstGeom>
          <a:solidFill>
            <a:srgbClr val="FDF2F2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"찾지 못했다"가 될 수 있는 네 가지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21396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실제로 선례가 없다        ②  이름이 달라 검색이 놓쳤다</a:t>
            </a:r>
            <a:endParaRPr lang="en-US" sz="10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데이터가 못 덮는 영역(지자체·기금·행정지침)        ④  질의어가 부실했다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오판 방지 장치 3종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321868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방향성 역전 감지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" y="35478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"정부가 AI를 쓴다"와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"기업이 AI를 배운다"는 반대 정책 —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축이 겹쳐도 별도 규칙으로 판별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27832" y="3108960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74136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730752" y="321868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겹침 배제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74136" y="35478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제목이 같아도 대상·수단이 다르면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오히려 독창성의 근거 —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대조를 의무화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9904" y="3108960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36208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92824" y="321868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재현율 통제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36208" y="35478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걸려야 할 문헌을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회수하지 못하면 결론을 내지 않고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보류로 처리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988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결론은 "선례 없음"이 아니라 "N개 질의에서 미발견" — 확신도는 최대 '중'으로 제한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왜 믿을 수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판정의 검증 — 확인된 것과 확인되지 않은 것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4114800" cy="2194560"/>
          </a:xfrm>
          <a:prstGeom prst="rect">
            <a:avLst/>
          </a:prstGeom>
          <a:solidFill>
            <a:srgbClr val="F0F9F3"/>
          </a:solidFill>
          <a:ln w="15240">
            <a:solidFill>
              <a:srgbClr val="2E7D4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0352" y="2176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판별력 시험 (n = 10)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진부 아이디어 5건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4.23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 아이디어 5건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2724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8.50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그룹 분포 겹침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2999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3310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채점 간 불일치 (30건 기준)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절대차 2.03점 · 3점 이상 괴리 7건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755648"/>
            <a:ext cx="4114800" cy="2194560"/>
          </a:xfrm>
          <a:prstGeom prst="rect">
            <a:avLst/>
          </a:prstGeom>
          <a:solidFill>
            <a:srgbClr val="FDF2F2"/>
          </a:solidFill>
          <a:ln w="15240">
            <a:solidFill>
              <a:srgbClr val="F0C0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확인되지 않은 것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846320" y="221284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983480" y="2212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전문가(연구자) 판정과의 일치도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4846320" y="254203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4983480" y="25420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대화 재채점 시 재현성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4846320" y="287121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4983480" y="28712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사례에서의 판별력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4846320" y="32004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4983480" y="3200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표현력 편향의 크기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4846320" y="3529584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4983480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중복 제안 탐지율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판정력이 입증된 범위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10건 · 극단 사례(명백히 진부 vs 명백히 창의)에 한정됩니다. 시험 문항은 사람이 아니라 모델이 생성했습니다.</a:t>
            </a:r>
            <a:endParaRPr lang="en-US" sz="10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국민 제안은 중간대에 몰리므로, 경계 사례 판별력과 전문가 일치도는 도입 전 별도 검증이 필요합니다.</a:t>
            </a:r>
            <a:endParaRPr lang="en-US" sz="10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구축과 운영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만들었나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문답·결과 웹 화면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입력 · 문답 저장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Word/PDF 불러와 재평가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2551176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51176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2551176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엔진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60904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 생성 · 이원 채점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 추출 · 선례 판정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규칙은 문서로 분리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736592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KDI 발간물 7,362건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OPSI 1,015건 (로컬)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 · 국회 의안 (조회)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922008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22008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922008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31736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연구용 · 공개용 2종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 접근 통제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키는 서버에 미보관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65760" y="3337560"/>
            <a:ext cx="841248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확보에서 지킨 원칙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03504" y="3776472"/>
            <a:ext cx="137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" y="3776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불안정한 소스는 끈다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3474720" y="37764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연구정보 API가 응답을 보장하지 못해 중단하고, 로컬 코퍼스로 대체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3504" y="4142232"/>
            <a:ext cx="137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8096" y="4142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우회하지 않는다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3474720" y="414223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사이트의 자동 수집 차단을 기술적으로 우회하지 않고, 공개 자료를 정리해 구축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" y="4507992"/>
            <a:ext cx="137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8096" y="4507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 상용 서비스에 의존하지 않는다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3474720" y="450799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 해외 정책DB 대신 OECD 공개 사례로 코퍼스를 자체 확보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구축과 운영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비용 — 월 처리량별 추정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1건당 약 2.8만~4.3만 토큰 · 캐싱 적용 시 추정(현재 미구현) · 환율 1,500원 기준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155448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031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처리량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202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· 단문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347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47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· 장문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모델 · 단문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637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37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모델 · 장문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505456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054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14만 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347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47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18만 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492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24만 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637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37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30만 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2926080"/>
            <a:ext cx="15544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926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9202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202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29만 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347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47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36만 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492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92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48만 원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637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637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60만 원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3346704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3467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2,000건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9202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02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57만 원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347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347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72만 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3492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92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96만 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0637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37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120만 원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5760" y="3767328"/>
            <a:ext cx="15544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3767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10,000건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9202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02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285만 원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347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347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360만 원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492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492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480만 원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0637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637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600만 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1,000건을 표준 모델로 처리할 경우 약 29만~36만 원 (API 비용만)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457200" y="46451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캐싱 미적용 시 입력 토큰이 전액 과금되어 실제 비용은 이보다 큼 · 인건비·서버·코퍼스 갱신 비용 제외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구축과 운영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다음 단계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514600"/>
          </a:xfrm>
          <a:prstGeom prst="rect">
            <a:avLst/>
          </a:prstGeom>
          <a:solidFill>
            <a:srgbClr val="FFF8E8"/>
          </a:solidFill>
          <a:ln w="15240">
            <a:solidFill>
              <a:srgbClr val="B7791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현재의 한계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2286000"/>
            <a:ext cx="3785616" cy="10973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39572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" y="239572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표현력 편향 — 조리 있게 말하는 제안자가 유리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2697480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" y="2697480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법적·규제 타당성은 채점에 미포함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2999232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2999232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자체사업·기금사업 포착이 불균등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3300984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" y="3300984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 자료는 최근 5개 시점(결측 있음)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3602736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" y="3602736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코퍼스는 OECD 등재·자기신고 사례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" y="390448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" y="390448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최종 결론이 아니라 검토 후보 목록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783080"/>
            <a:ext cx="4114800" cy="2514600"/>
          </a:xfrm>
          <a:prstGeom prst="rect">
            <a:avLst/>
          </a:prstGeom>
          <a:solidFill>
            <a:srgbClr val="EFF4FB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2803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28032" y="2286000"/>
            <a:ext cx="3785616" cy="1097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239572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65192" y="239572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판정과의 일치도 측정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28032" y="2697480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65192" y="2697480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대화 재채점 재현성 검증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8032" y="2999232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65192" y="2999232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표현력 편향 보정 설계 · 법적 타당성 항목 추가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28032" y="3300984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65192" y="3300984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지자체·기금 데이터 통로 추가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28032" y="3602736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65192" y="3602736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부처 배정·이관 절차와 연계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28032" y="390448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65192" y="390448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이력을 국가 아이디어 코퍼스로 축적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48056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48056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담당자를 대체하지 않습니다 — 판단의 근거를 갖춘 상태로 만들어 줍니다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국민의 제안에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있는 답을 돌려줍니다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3246120"/>
            <a:ext cx="23774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대화로 캐묻고, 국가 데이터로 확인하고, 확신도와 함께 말합니다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2026-08-04T11:39:02Z</dcterms:created>
  <dcterms:modified xsi:type="dcterms:W3CDTF">2026-08-04T11:39:02Z</dcterms:modified>
</cp:coreProperties>
</file>
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17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7710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대화와 데이터로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162763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검증하는 정책 아이디어 평가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4871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 제안을 소크라테스식 문답으로 구조화하고, 국가 데이터 4종으로 선례를 확인합니다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090672"/>
            <a:ext cx="1627632" cy="384048"/>
          </a:xfrm>
          <a:prstGeom prst="roundRect">
            <a:avLst>
              <a:gd name="adj" fmla="val 19048"/>
            </a:avLst>
          </a:prstGeom>
          <a:solidFill>
            <a:srgbClr val="333344"/>
          </a:solidFill>
          <a:ln w="6350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309067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12문답 · 5단계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12848" y="3090672"/>
            <a:ext cx="1627632" cy="384048"/>
          </a:xfrm>
          <a:prstGeom prst="roundRect">
            <a:avLst>
              <a:gd name="adj" fmla="val 19048"/>
            </a:avLst>
          </a:prstGeom>
          <a:solidFill>
            <a:srgbClr val="333344"/>
          </a:solidFill>
          <a:ln w="6350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12848" y="309067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이원 채점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22776" y="3090672"/>
            <a:ext cx="1627632" cy="384048"/>
          </a:xfrm>
          <a:prstGeom prst="roundRect">
            <a:avLst>
              <a:gd name="adj" fmla="val 19048"/>
            </a:avLst>
          </a:prstGeom>
          <a:solidFill>
            <a:srgbClr val="333344"/>
          </a:solidFill>
          <a:ln w="6350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922776" y="309067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 4개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32704" y="3090672"/>
            <a:ext cx="1627632" cy="384048"/>
          </a:xfrm>
          <a:prstGeom prst="roundRect">
            <a:avLst>
              <a:gd name="adj" fmla="val 19048"/>
            </a:avLst>
          </a:prstGeom>
          <a:solidFill>
            <a:srgbClr val="333344"/>
          </a:solidFill>
          <a:ln w="6350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632704" y="309067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KDI 발간물 7,362건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42632" y="3090672"/>
            <a:ext cx="1627632" cy="384048"/>
          </a:xfrm>
          <a:prstGeom prst="roundRect">
            <a:avLst>
              <a:gd name="adj" fmla="val 19048"/>
            </a:avLst>
          </a:prstGeom>
          <a:solidFill>
            <a:srgbClr val="333344"/>
          </a:solidFill>
          <a:ln w="6350">
            <a:solidFill>
              <a:srgbClr val="4A4A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42632" y="3090672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OPSI 1,015건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977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A93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en-US" sz="1200" dirty="0">
                <a:solidFill>
                  <a:srgbClr val="8A93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담당자 설명자료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49440" y="3931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 요약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1783080"/>
            <a:ext cx="41148" cy="5669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6928" y="17830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72768" y="178308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국민이 제안한 정책 아이디어를 AI가 문답으로 캐묻고, 국가 데이터로 선례를 확인해 평가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2423160"/>
            <a:ext cx="84124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2423160"/>
            <a:ext cx="41148" cy="5669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66928" y="24231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72768" y="242316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제안은 대량으로 접수되지만, 선례 확인과 성의 있는 회신은 담당자 개인 역량에 의존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8412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3063240"/>
            <a:ext cx="41148" cy="5669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66928" y="306324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572768" y="306324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소크라테스 문답 12개 → ② 이원 채점 → ③ 검증 통로 4개로 실질 독창성 판정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65760" y="3703320"/>
            <a:ext cx="84124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65760" y="3703320"/>
            <a:ext cx="41148" cy="56692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66928" y="370332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572768" y="370332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하나가 아니라 근거·확신도·철회조건이 붙은 판정과 다음 행동 제시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65760" y="4526280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5262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원칙 —  먼저 대화하고, 그 대화를 근거로 평가한다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순서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267919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12064" y="18928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2064" y="22951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필요한가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12064" y="2587752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12064" y="264261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등록제의 구조적 병목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27832" y="1783080"/>
            <a:ext cx="267919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374136" y="18928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74136" y="22951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무엇인가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374136" y="2587752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374136" y="264261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· 두 개의 축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9904" y="1783080"/>
            <a:ext cx="267919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236208" y="18928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36208" y="2295144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대화와 채점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36208" y="2587752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236208" y="2642616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12문답과 이원 채점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136392"/>
            <a:ext cx="267919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512064" y="3246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12064" y="364845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 4개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12064" y="3941064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12064" y="399592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재정·KDI·의안·해외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27832" y="3136392"/>
            <a:ext cx="267919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374136" y="3246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3374136" y="364845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믿을 수 있나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374136" y="3941064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3374136" y="399592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등급과 오판 방지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089904" y="3136392"/>
            <a:ext cx="2679192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236208" y="32461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236208" y="3648456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구축과 운영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236208" y="3941064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6236208" y="3995928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· 비용 · 다음 단계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왜 필요한가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등록제의 구조적 병목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65760" y="1719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제안은 국민 단위로 들어오는데, 검증은 담당자 한 사람의 시간과 기억에 의존합니다.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2148840"/>
            <a:ext cx="2011680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5760" y="2286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2542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대량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75488" y="30358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 누구나 상시 제안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51176" y="21488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551176" y="2286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551176" y="2542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수작업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2660904" y="30358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선례 확인은 개인 검색에 의존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36592" y="21488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736592" y="2286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36592" y="2542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지연·형식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4846320" y="30358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없는 회신 → 제안자 이탈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922008" y="214884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922008" y="228600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축적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22008" y="25420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흩어짐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7031736" y="3035808"/>
            <a:ext cx="17922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이력이 자산으로 남지 않음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675888"/>
            <a:ext cx="84124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48640" y="37764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병목의 본질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011680" y="3749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"이미 있는 정책인가?"를 확인하려면 예산·연구·입법·해외를 각각 뒤져야 하는데,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작업은 제안 한 건마다 반복되며 사람의 기억으로는 재현되지 않습니다.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왜 필요한가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방식의 세 가지 한계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4114800" cy="402336"/>
          </a:xfrm>
          <a:prstGeom prst="rect">
            <a:avLst/>
          </a:prstGeom>
          <a:solidFill>
            <a:srgbClr val="8A93A8"/>
          </a:solidFill>
          <a:ln w="12700">
            <a:solidFill>
              <a:srgbClr val="8A93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" y="17830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(사람 손)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63440" y="1783080"/>
            <a:ext cx="411480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663440" y="17830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시스템 (대화 + 데이터)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228600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" y="228600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22860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제안서를 끝까지 읽어야 뜻을 안다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480560" y="228600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28600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800600" y="228600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0" y="228600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문답으로 대상·수단·재원을 끌어냄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2926080"/>
            <a:ext cx="4114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02920" y="292608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29260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선례 확인이 담당자 검색 역량에 좌우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80560" y="292608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2926080"/>
            <a:ext cx="411480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00600" y="292608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0" y="292608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국가 데이터를 동일한 절차로 조회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5760" y="356616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02920" y="356616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22960" y="35661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"검토 후 회신" 식 형식적 답변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80560" y="3566160"/>
            <a:ext cx="201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356616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800600" y="356616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20640" y="356616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근거·확신도·다음 행동을 문서로 제시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5760" y="4526280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57200" y="45262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채점기가 아니라, 캐묻는 대화 + 근거 있는 선례 확인이 필요합니다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왜 필요한가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무엇이 필요한가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267919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30352" y="1901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0352" y="230428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캐묻는 대화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30352" y="2651760"/>
            <a:ext cx="2350008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30352" y="276148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667512" y="276148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제안자가 스스로 설계를 진술하게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30352" y="312724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667512" y="312724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대상·수단·전달경로·재원을 확보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30352" y="349300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67512" y="34930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반증 조건까지 답하게 유도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30352" y="385876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667512" y="38587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제안서의 공백을 메움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3227832" y="1783080"/>
            <a:ext cx="267919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392424" y="1901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392424" y="230428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대조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3392424" y="2651760"/>
            <a:ext cx="2350008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392424" y="276148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3529584" y="276148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예산·연구·입법·해외를 교차 확인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3392424" y="312724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3529584" y="312724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절차와 판정 규칙을 문서로 고정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3392424" y="349300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3529584" y="34930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근거를 인용 가능한 형태로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3392424" y="385876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3529584" y="38587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중복 제안을 초기에 식별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6089904" y="1783080"/>
            <a:ext cx="267919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6254496" y="1901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254496" y="230428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판정의 절제</a:t>
            </a:r>
            <a:endParaRPr lang="en-US" sz="1450" dirty="0"/>
          </a:p>
        </p:txBody>
      </p:sp>
      <p:sp>
        <p:nvSpPr>
          <p:cNvPr id="47" name="Shape 45"/>
          <p:cNvSpPr/>
          <p:nvPr/>
        </p:nvSpPr>
        <p:spPr>
          <a:xfrm>
            <a:off x="6254496" y="2651760"/>
            <a:ext cx="2350008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254496" y="276148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9" name="Text 47"/>
          <p:cNvSpPr/>
          <p:nvPr/>
        </p:nvSpPr>
        <p:spPr>
          <a:xfrm>
            <a:off x="6391656" y="276148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범위까지만 말한다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6254496" y="312724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51" name="Text 49"/>
          <p:cNvSpPr/>
          <p:nvPr/>
        </p:nvSpPr>
        <p:spPr>
          <a:xfrm>
            <a:off x="6391656" y="312724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확신도와 철회조건을 함께 제시</a:t>
            </a:r>
            <a:endParaRPr lang="en-US" sz="1020" dirty="0"/>
          </a:p>
        </p:txBody>
      </p:sp>
      <p:sp>
        <p:nvSpPr>
          <p:cNvPr id="52" name="Text 50"/>
          <p:cNvSpPr/>
          <p:nvPr/>
        </p:nvSpPr>
        <p:spPr>
          <a:xfrm>
            <a:off x="6254496" y="349300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53" name="Text 51"/>
          <p:cNvSpPr/>
          <p:nvPr/>
        </p:nvSpPr>
        <p:spPr>
          <a:xfrm>
            <a:off x="6391656" y="34930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미발견을 독창성 확정으로 쓰지 않음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6254496" y="3858768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55" name="Text 53"/>
          <p:cNvSpPr/>
          <p:nvPr/>
        </p:nvSpPr>
        <p:spPr>
          <a:xfrm>
            <a:off x="6391656" y="38587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결정은 사람이</a:t>
            </a:r>
            <a:endParaRPr lang="en-US" sz="1020" dirty="0"/>
          </a:p>
        </p:txBody>
      </p:sp>
      <p:sp>
        <p:nvSpPr>
          <p:cNvPr id="56" name="Text 54"/>
          <p:cNvSpPr/>
          <p:nvPr/>
        </p:nvSpPr>
        <p:spPr>
          <a:xfrm>
            <a:off x="365760" y="45445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"평가의 목적은 등수를 매기는 것이 아니라, 제안을 다음 단계로 보낼 수 있게 만드는 것"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무엇인가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대원칙 — 먼저 대화, 그 다음 평가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4114800" cy="1234440"/>
          </a:xfrm>
          <a:prstGeom prst="rect">
            <a:avLst/>
          </a:prstGeom>
          <a:solidFill>
            <a:srgbClr val="FDF2F2"/>
          </a:solidFill>
          <a:ln w="12700">
            <a:solidFill>
              <a:srgbClr val="F0C0C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864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 않는 것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22128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 문장만 보고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곧바로 선례를 검색해 판정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1783080"/>
            <a:ext cx="4114800" cy="1234440"/>
          </a:xfrm>
          <a:prstGeom prst="rect">
            <a:avLst/>
          </a:prstGeom>
          <a:solidFill>
            <a:srgbClr val="F0F9F3"/>
          </a:solidFill>
          <a:ln w="12700">
            <a:solidFill>
              <a:srgbClr val="B8DCC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846320" y="1901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것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2128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12문답으로 설계를 끌어낸 뒤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대화 내용을 근거로 조회·판정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5760" y="3154680"/>
            <a:ext cx="8412480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66928" y="32735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순서인가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3611880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" y="361188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제안문에는 대상·전달경로·재원이 대개 빠져 있어, 그대로 검색하면 엉뚱한 선례가 걸린다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3867912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" y="3867912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대화를 거치면 "무엇이 실제로 새로운 부분인지"가 특정되어, 조회 질의가 정확해진다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4123944"/>
            <a:ext cx="128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" y="4123944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제안자가 스스로 약점을 말하게 되므로, 평가가 일방적 판정이 아니라 상호 검증이 된다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무엇인가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흐름 — 3단계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1783080"/>
            <a:ext cx="2514600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5760" y="17830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22402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소크라테스 문답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2615184"/>
            <a:ext cx="1965960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8640" y="2724912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685800" y="2724912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 질문 · 5단계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548640" y="3008376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685800" y="3008376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명료화 → 독창성 → 실용성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548640" y="3291840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685800" y="3291840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수용태도 → 자기평가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548640" y="3575304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685800" y="3575304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15분 소요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2935224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355848" y="178308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3355848" y="1783080"/>
            <a:ext cx="2514600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355848" y="17830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93008" y="22402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이원 채점 + 선례 조사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30168" y="2615184"/>
            <a:ext cx="1965960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538728" y="2724912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3675888" y="2724912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체크리스트 30항목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3538728" y="3008376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3675888" y="3008376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종합 판단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3538728" y="3291840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4" name="Text 42"/>
          <p:cNvSpPr/>
          <p:nvPr/>
        </p:nvSpPr>
        <p:spPr>
          <a:xfrm>
            <a:off x="3675888" y="3291840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 4개 조회</a:t>
            </a:r>
            <a:endParaRPr lang="en-US" sz="1020" dirty="0"/>
          </a:p>
        </p:txBody>
      </p:sp>
      <p:sp>
        <p:nvSpPr>
          <p:cNvPr id="45" name="Text 43"/>
          <p:cNvSpPr/>
          <p:nvPr/>
        </p:nvSpPr>
        <p:spPr>
          <a:xfrm>
            <a:off x="3538728" y="3575304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6" name="Text 44"/>
          <p:cNvSpPr/>
          <p:nvPr/>
        </p:nvSpPr>
        <p:spPr>
          <a:xfrm>
            <a:off x="3675888" y="3575304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실질 독창성 판정</a:t>
            </a:r>
            <a:endParaRPr lang="en-US" sz="1020" dirty="0"/>
          </a:p>
        </p:txBody>
      </p:sp>
      <p:sp>
        <p:nvSpPr>
          <p:cNvPr id="47" name="Text 45"/>
          <p:cNvSpPr/>
          <p:nvPr/>
        </p:nvSpPr>
        <p:spPr>
          <a:xfrm>
            <a:off x="5925312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6345936" y="1783080"/>
            <a:ext cx="2514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6345936" y="1783080"/>
            <a:ext cx="2514600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345936" y="178308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83096" y="22402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5문장 결과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620256" y="2615184"/>
            <a:ext cx="1965960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6528816" y="2724912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54" name="Text 52"/>
          <p:cNvSpPr/>
          <p:nvPr/>
        </p:nvSpPr>
        <p:spPr>
          <a:xfrm>
            <a:off x="6665976" y="2724912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현재가치 · 잠재가치</a:t>
            </a:r>
            <a:endParaRPr lang="en-US" sz="1020" dirty="0"/>
          </a:p>
        </p:txBody>
      </p:sp>
      <p:sp>
        <p:nvSpPr>
          <p:cNvPr id="55" name="Text 53"/>
          <p:cNvSpPr/>
          <p:nvPr/>
        </p:nvSpPr>
        <p:spPr>
          <a:xfrm>
            <a:off x="6528816" y="3008376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56" name="Text 54"/>
          <p:cNvSpPr/>
          <p:nvPr/>
        </p:nvSpPr>
        <p:spPr>
          <a:xfrm>
            <a:off x="6665976" y="3008376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핵심위험 · 근거신뢰도</a:t>
            </a:r>
            <a:endParaRPr lang="en-US" sz="1020" dirty="0"/>
          </a:p>
        </p:txBody>
      </p:sp>
      <p:sp>
        <p:nvSpPr>
          <p:cNvPr id="57" name="Text 55"/>
          <p:cNvSpPr/>
          <p:nvPr/>
        </p:nvSpPr>
        <p:spPr>
          <a:xfrm>
            <a:off x="6528816" y="3291840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58" name="Text 56"/>
          <p:cNvSpPr/>
          <p:nvPr/>
        </p:nvSpPr>
        <p:spPr>
          <a:xfrm>
            <a:off x="6665976" y="3291840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검증행동</a:t>
            </a:r>
            <a:endParaRPr lang="en-US" sz="1020" dirty="0"/>
          </a:p>
        </p:txBody>
      </p:sp>
      <p:sp>
        <p:nvSpPr>
          <p:cNvPr id="59" name="Text 57"/>
          <p:cNvSpPr/>
          <p:nvPr/>
        </p:nvSpPr>
        <p:spPr>
          <a:xfrm>
            <a:off x="6528816" y="3575304"/>
            <a:ext cx="1280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60" name="Text 58"/>
          <p:cNvSpPr/>
          <p:nvPr/>
        </p:nvSpPr>
        <p:spPr>
          <a:xfrm>
            <a:off x="6665976" y="3575304"/>
            <a:ext cx="2029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+ 2×2 위치 판정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365760" y="4526280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457200" y="45262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문답이 끝나기 전에는 선례 조사를 시작하지 않습니다 — 대화가 조회의 입력이 됩니다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무엇인가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개의 축 — 역할 분담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4114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1783080"/>
            <a:ext cx="411480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5760" y="1783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 ·  대화 채점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2304288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"제안이 얼마나 잘 방어되는가"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2651760"/>
            <a:ext cx="3566160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66928" y="278892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704088" y="2788920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12문답에서 드러난 진술을 평가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566928" y="3118104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04088" y="3118104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체크리스트 30항목 + 종합판단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66928" y="3447288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04088" y="3447288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 35% · 실용성 35% · 수용태도 30%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566928" y="3776472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704088" y="3776472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산출: 0~10 점수 + 불일치 폭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4663440" y="1783080"/>
            <a:ext cx="4114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663440" y="1783080"/>
            <a:ext cx="4114800" cy="384048"/>
          </a:xfrm>
          <a:prstGeom prst="rect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663440" y="1783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B  ·  선례 검증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28032" y="2304288"/>
            <a:ext cx="3785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 아이디어가 실제로 새로운가"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937760" y="2651760"/>
            <a:ext cx="3566160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864608" y="278892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5001768" y="2788920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 데이터 4개 통로를 조회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4864608" y="3118104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5001768" y="3118104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 결과와 설계를 대조해 판정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4864608" y="3447288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5001768" y="3447288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등급 A급 / B급 구분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4864608" y="3776472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5001768" y="3776472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산출: 4구간 밴드 + 확신도 + 근거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365760" y="4462272"/>
            <a:ext cx="8412480" cy="475488"/>
          </a:xfrm>
          <a:prstGeom prst="rect">
            <a:avLst/>
          </a:prstGeom>
          <a:solidFill>
            <a:srgbClr val="EBF5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57200" y="44622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축은 서로 다른 질문에 답합니다 —  "말을 잘했는가(A)"와 "실제로 새로운가(B)"는 별개입니다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대화와 채점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① — 12문답 5단계 구조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163677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1783080"/>
            <a:ext cx="1636776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5760" y="17830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명료화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65760" y="22128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2문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2688336"/>
            <a:ext cx="1271016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38912" y="2798064"/>
            <a:ext cx="1490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문장 정의로 압축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대상·문제·방법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03120" y="1783080"/>
            <a:ext cx="163677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2103120" y="1783080"/>
            <a:ext cx="1636776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103120" y="17830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103120" y="22128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3문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2286000" y="2688336"/>
            <a:ext cx="1271016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176272" y="2798064"/>
            <a:ext cx="1490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해법과의 차이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모방 어려운 차별점인가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40480" y="1783080"/>
            <a:ext cx="163677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840480" y="1783080"/>
            <a:ext cx="1636776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3840480" y="17830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실용성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840480" y="22128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3문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023360" y="2688336"/>
            <a:ext cx="1271016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913632" y="2798064"/>
            <a:ext cx="1490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자원과 최대 장애물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실행 버전(MVP)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77840" y="1783080"/>
            <a:ext cx="163677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5577840" y="1783080"/>
            <a:ext cx="1636776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577840" y="17830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수용태도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577840" y="22128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3문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5760720" y="2688336"/>
            <a:ext cx="1271016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650992" y="2798064"/>
            <a:ext cx="1490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쓰고 왜 갈아타나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반대할 이해관계자는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0" y="1783080"/>
            <a:ext cx="1636776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7315200" y="1783080"/>
            <a:ext cx="1636776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7315200" y="1783080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자기평가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7315200" y="2212848"/>
            <a:ext cx="1636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1문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7498080" y="2688336"/>
            <a:ext cx="1271016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7388352" y="2798064"/>
            <a:ext cx="1490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꼽는 최대 약점</a:t>
            </a:r>
            <a:endParaRPr lang="en-US" sz="9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보완 방안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4206240"/>
            <a:ext cx="84124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566928" y="4297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의도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1874520" y="427939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 기준(독창성·실용성·수용태도)마다 3문씩 배정해, 점수의 근거가 될 진술을 반드시 확보합니다.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자기평가 1문은 제안자가 스스로 약점을 인정하는지를 보는 항목으로, 수용태도 채점에 직결됩니다.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대화와 채점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② — 질문은 무엇을 캐내는가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1783080"/>
            <a:ext cx="41148" cy="5120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1783080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명료화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1783080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· 문제 · 방법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11880" y="178308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"누구의 어떤 문제를 어떻게"를 한 문장으로 합의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359152"/>
            <a:ext cx="841248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65760" y="2359152"/>
            <a:ext cx="41148" cy="512064"/>
          </a:xfrm>
          <a:prstGeom prst="rect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48640" y="2359152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54480" y="2359152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차별점 · 공백의 이유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11880" y="235915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해법 식별 → 차이 진술 → 왜 아직 없었나 → 모방 장벽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2935224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65760" y="2935224"/>
            <a:ext cx="41148" cy="5120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48640" y="2935224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실용성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554480" y="293522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자원 · 장애물 · MVP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11880" y="2935224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 인력·예산, 최대 장애물과 대응, 단계적 실행 경로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3511296"/>
            <a:ext cx="841248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365760" y="3511296"/>
            <a:ext cx="41148" cy="512064"/>
          </a:xfrm>
          <a:prstGeom prst="rect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48640" y="3511296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E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수용태도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554480" y="3511296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· 전환비용 · 반대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611880" y="3511296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갈아타는가, 손해 보는 이해관계자는 누구인가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5760" y="4087368"/>
            <a:ext cx="8412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365760" y="4087368"/>
            <a:ext cx="41148" cy="5120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548640" y="4087368"/>
            <a:ext cx="960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자기평가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554480" y="408736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약점 인정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611880" y="4087368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약점 하나와 보완 방안 — 정직성의 지표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EBF5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질문자는 답을 평가하지 않습니다 — 캐묻기만 하고, 채점은 대화가 끝난 뒤 별도로 수행됩니다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대화와 채점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③ — 이원 채점: 두 번 재고 평균한다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4114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1783080"/>
            <a:ext cx="411480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576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체크리스트 채점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2240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기계적 · 재현 가능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2578608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4088" y="2578608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기준마다 이진 항목 10개 (총 30개)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2907792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4088" y="2907792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 사건이 대화에 있었는가"로만 판정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3236976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4088" y="3236976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충족 개수 = 그대로 0~10점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356616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4088" y="3566160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기준이 문서로 고정되어 있음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1783080"/>
            <a:ext cx="411480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종합 판단 채점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800600" y="2240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맥락적 · 질을 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64608" y="2578608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01768" y="2578608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전체를 읽고 기준별 0~10점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64608" y="2907792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001768" y="2907792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충족 여부로 잡히지 않는 깊이 반영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64608" y="3236976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01768" y="3236976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근거(rationale)를 함께 기록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64608" y="356616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01768" y="3566160"/>
            <a:ext cx="3593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강점·보완점·격려 문구 생성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65760" y="423367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기준별 최종점수  =  ( 체크리스트  +  종합판단 )  ÷  2      ·      두 채점이 3점 이상 벌어지면 낮은 쪽 채택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종합점수 = 독창성 35% + 실용성 35% + 수용태도 30% 가중 평균  (가중치 고정)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대화와 채점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④ — 체크리스트 30항목 (기준별 10개)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37360"/>
            <a:ext cx="2679192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1737360"/>
            <a:ext cx="2679192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5760" y="173736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 O1~O10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12064" y="2157984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O1 기존 해법 식별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12064" y="2382012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O2 차별점 명시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12064" y="260604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O3 차별점의 검증 가능성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12064" y="283006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O4 공백의 설명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12064" y="305409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O5 모방 장벽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12064" y="3278124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O6 관점 전환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12064" y="3502152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O7 새로움–가치 연결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512064" y="372618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O8 반례 대응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512064" y="395020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O9 한계 인정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512064" y="417423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O10 무모순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3227832" y="1737360"/>
            <a:ext cx="2679192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227832" y="1737360"/>
            <a:ext cx="2679192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3227832" y="173736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실용성 P1~P10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374136" y="2157984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 자원 구체화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3374136" y="2382012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 MVP 정의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3374136" y="260604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 핵심 장애물 식별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3374136" y="283006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 장애물 대응책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3374136" y="305409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P5 구현 경로</a:t>
            </a:r>
            <a:endParaRPr lang="en-US" sz="980" dirty="0"/>
          </a:p>
        </p:txBody>
      </p:sp>
      <p:sp>
        <p:nvSpPr>
          <p:cNvPr id="41" name="Text 39"/>
          <p:cNvSpPr/>
          <p:nvPr/>
        </p:nvSpPr>
        <p:spPr>
          <a:xfrm>
            <a:off x="3374136" y="3278124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P6 비용 대비 효과</a:t>
            </a:r>
            <a:endParaRPr lang="en-US" sz="980" dirty="0"/>
          </a:p>
        </p:txBody>
      </p:sp>
      <p:sp>
        <p:nvSpPr>
          <p:cNvPr id="42" name="Text 40"/>
          <p:cNvSpPr/>
          <p:nvPr/>
        </p:nvSpPr>
        <p:spPr>
          <a:xfrm>
            <a:off x="3374136" y="3502152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P7 운영 주체 특정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3374136" y="372618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P8 단계적 경로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3374136" y="395020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P9 실행 리스크 인정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3374136" y="417423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P10 무모순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6089904" y="1737360"/>
            <a:ext cx="2679192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6089904" y="1737360"/>
            <a:ext cx="2679192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089904" y="1737360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수용태도 A1~A10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236208" y="2157984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 수용 주체 특정</a:t>
            </a:r>
            <a:endParaRPr lang="en-US" sz="980" dirty="0"/>
          </a:p>
        </p:txBody>
      </p:sp>
      <p:sp>
        <p:nvSpPr>
          <p:cNvPr id="50" name="Text 48"/>
          <p:cNvSpPr/>
          <p:nvPr/>
        </p:nvSpPr>
        <p:spPr>
          <a:xfrm>
            <a:off x="6236208" y="2382012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A2 상대적 이점</a:t>
            </a:r>
            <a:endParaRPr lang="en-US" sz="980" dirty="0"/>
          </a:p>
        </p:txBody>
      </p:sp>
      <p:sp>
        <p:nvSpPr>
          <p:cNvPr id="51" name="Text 49"/>
          <p:cNvSpPr/>
          <p:nvPr/>
        </p:nvSpPr>
        <p:spPr>
          <a:xfrm>
            <a:off x="6236208" y="260604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A3 전환 비용</a:t>
            </a:r>
            <a:endParaRPr lang="en-US" sz="980" dirty="0"/>
          </a:p>
        </p:txBody>
      </p:sp>
      <p:sp>
        <p:nvSpPr>
          <p:cNvPr id="52" name="Text 50"/>
          <p:cNvSpPr/>
          <p:nvPr/>
        </p:nvSpPr>
        <p:spPr>
          <a:xfrm>
            <a:off x="6236208" y="283006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A4 적합성</a:t>
            </a:r>
            <a:endParaRPr lang="en-US" sz="980" dirty="0"/>
          </a:p>
        </p:txBody>
      </p:sp>
      <p:sp>
        <p:nvSpPr>
          <p:cNvPr id="53" name="Text 51"/>
          <p:cNvSpPr/>
          <p:nvPr/>
        </p:nvSpPr>
        <p:spPr>
          <a:xfrm>
            <a:off x="6236208" y="305409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A5 시험 가능성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6236208" y="3278124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A6 반대 세력 식별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6236208" y="3502152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A7 저항 대응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6236208" y="3726180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A8 확산 경로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6236208" y="3950208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A9 판단 갱신 조건 명시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6236208" y="4174236"/>
            <a:ext cx="2404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A10 무모순</a:t>
            </a:r>
            <a:endParaRPr lang="en-US" sz="980" dirty="0"/>
          </a:p>
        </p:txBody>
      </p:sp>
      <p:sp>
        <p:nvSpPr>
          <p:cNvPr id="59" name="Shape 57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solidFill>
            <a:srgbClr val="EBF5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항목은 "있었다/없었다"로만 판정 —  주관적 인상이 아니라 대화에서 확인 가능한 사건입니다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대화와 채점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⑤ — 체크리스트의 이론적 근거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65760" y="1719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항목을 임의로 만들지 않고, 각 기준마다 확립된 평가 프레임을 채택했습니다.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148840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65760" y="2148840"/>
            <a:ext cx="45720" cy="7132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21792" y="214884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057400" y="222199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Runco &amp; Jaeger — 창의성 표준 정의 (새로움 + 유용성)</a:t>
            </a:r>
            <a:endParaRPr lang="en-US" sz="10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Dean et al. (2006) — 아이디어 평가 구인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365760" y="2953512"/>
            <a:ext cx="841248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65760" y="2953512"/>
            <a:ext cx="45720" cy="7132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21792" y="2953512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실용성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057400" y="302666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TELOS 타당성 프레임워크</a:t>
            </a:r>
            <a:endParaRPr lang="en-US" sz="10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Real-Win-Worth (Day, HBR 2007) · 린 스타트업 MVP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365760" y="3758184"/>
            <a:ext cx="84124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65760" y="3758184"/>
            <a:ext cx="45720" cy="7132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21792" y="3758184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수용태도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57400" y="383133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Rogers — 혁신 확산 이론 5속성</a:t>
            </a:r>
            <a:endParaRPr lang="en-US" sz="108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8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Davis — 기술수용모형(TAM)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항목별 근거는 별도 문서(checklist-rationale)에 정리되어 있어, 외부 검토·수정이 가능합니다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대화와 채점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⑥ — 두 채점의 불일치를 숨기지 않는다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55648"/>
            <a:ext cx="841248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66928" y="1874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기계적 채점(체크리스트)과 맥락적 채점(종합판단)이 어긋난다는 것은,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평가 자체가 불확실하다는 신호입니다. 이 차이를 숨기지 않고 점수 범위로 표시합니다.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88036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2880360"/>
            <a:ext cx="45720" cy="685800"/>
          </a:xfrm>
          <a:prstGeom prst="rect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03504" y="2880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채점이 일치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28803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체크리스트 7 · 종합 7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880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7.0 (평균)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28803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신뢰 높음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6576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45720" cy="685800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03504" y="3657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3점 이상 벌어짐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60320" y="36576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체크리스트 9 · 종합 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6576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6.0 (낮은 쪽)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49440" y="3657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평균을 쓰지 않음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526280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57200" y="45262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괴리가 크면 평균이 경고를 삼킵니다 — 그래서 3점 이상이면 낮은 쪽을 채택합니다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대화와 채점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⑦ — 산출물 ①: 5문장 결과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65760" y="1719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점수를 만들지 않고, 이미 산출된 채점 결과를 담당자가 읽을 서술로 묶습니다.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02920" y="219456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292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2103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가치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2103120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근거로 방어 가능한 수준은 얼마이며, 가장 탄탄한 축은 무엇인가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615184"/>
            <a:ext cx="8412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502920" y="2706624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02920" y="27066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" y="261518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잠재 가치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60320" y="2615184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보완되면 어디까지 갈 수 있는가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127248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502920" y="3218688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02920" y="3218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" y="31272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위험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560320" y="3127248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제안을 무너뜨릴 가장 큰 요인은 무엇인가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639312"/>
            <a:ext cx="84124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502920" y="373075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02920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14400" y="363931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신뢰도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560320" y="3639312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판단이 어느 정도 근거에 서 있는가 (범위 · 확신도)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151376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502920" y="4242816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502920" y="4242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14400" y="415137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검증행동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560320" y="4151376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무엇을 확인하면 판정이 바뀌는가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BF5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제안자에게 그대로 회신할 수 있는 형태 — "검토 후 회신"을 대체합니다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대화와 채점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 ⑧ — 산출물 ②: 2×2 위치 판정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65760" y="1719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A(방어력)와 축 B(실질 독창성)를 교차해 담당자의 다음 행동을 지정합니다.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20848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실질 독창성 (축 B)  높음  ▲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331720"/>
            <a:ext cx="4114800" cy="1005840"/>
          </a:xfrm>
          <a:prstGeom prst="rect">
            <a:avLst/>
          </a:prstGeom>
          <a:solidFill>
            <a:srgbClr val="FFF8E8"/>
          </a:solidFill>
          <a:ln w="15240">
            <a:solidFill>
              <a:srgbClr val="B7791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30352" y="244144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7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보완 후 재문답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" y="2770632"/>
            <a:ext cx="3785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독창적이나 근거 부족 —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문답을 보완해 방어력 확보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331720"/>
            <a:ext cx="4114800" cy="1005840"/>
          </a:xfrm>
          <a:prstGeom prst="rect">
            <a:avLst/>
          </a:prstGeom>
          <a:solidFill>
            <a:srgbClr val="F0F9F3"/>
          </a:solidFill>
          <a:ln w="15240">
            <a:solidFill>
              <a:srgbClr val="2E7D4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828032" y="2441448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28032" y="2770632"/>
            <a:ext cx="3785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독창적이고 방어력도 충분 —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단계로 이관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401568"/>
            <a:ext cx="4114800" cy="1005840"/>
          </a:xfrm>
          <a:prstGeom prst="rect">
            <a:avLst/>
          </a:prstGeom>
          <a:solidFill>
            <a:srgbClr val="F5F5F5"/>
          </a:solidFill>
          <a:ln w="15240">
            <a:solidFill>
              <a:srgbClr val="8A93A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30352" y="3511296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3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0352" y="3840480"/>
            <a:ext cx="3785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새롭지도 방어되지도 않음 —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제안자에게 근거와 함께 회신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401568"/>
            <a:ext cx="4114800" cy="1005840"/>
          </a:xfrm>
          <a:prstGeom prst="rect">
            <a:avLst/>
          </a:prstGeom>
          <a:solidFill>
            <a:srgbClr val="EFF4FB"/>
          </a:solidFill>
          <a:ln w="15240">
            <a:solidFill>
              <a:srgbClr val="2563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828032" y="3511296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사업 개선으로 재포지셔닝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28032" y="3840480"/>
            <a:ext cx="3785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방어는 되나 선례 존재 —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사업 개선안으로 전환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498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방어력 낮음 (축 A)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63440" y="4498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방어력 높음 (축 A)  ▶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800600"/>
            <a:ext cx="8412480" cy="292608"/>
          </a:xfrm>
          <a:prstGeom prst="rect">
            <a:avLst/>
          </a:prstGeom>
          <a:solidFill>
            <a:srgbClr val="EBF5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방어력은 종합점수 6.0 기준 · 실질 독창성은 「계열 밖 시도」만 높음(「계열 내 변형」은 낮음) · 판정 보류 시 이 칸을 표시하지 않습니다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검증 통로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B — 검증 통로 4개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65760" y="1719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소스는 서로 다른 질문에 답합니다. 하나라도 빠지면 "없다"는 결론을 신뢰할 수 없습니다.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65760" y="2103120"/>
            <a:ext cx="201168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5760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재정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2596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예산이 붙어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집행되었나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94360" y="3182112"/>
            <a:ext cx="1554480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세출예산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5개 연도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78992" y="3822192"/>
            <a:ext cx="585216" cy="237744"/>
          </a:xfrm>
          <a:prstGeom prst="roundRect">
            <a:avLst>
              <a:gd name="adj" fmla="val 23077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1078992" y="382219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51176" y="210312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2551176" y="2103120"/>
            <a:ext cx="201168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551176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KDI 연구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2642616" y="2596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연구로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검토되었나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779776" y="3182112"/>
            <a:ext cx="1554480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2642616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KDI 발간물 7,362건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(정책연구시리즈·연구보고서 1,178)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64408" y="3822192"/>
            <a:ext cx="585216" cy="237744"/>
          </a:xfrm>
          <a:prstGeom prst="roundRect">
            <a:avLst>
              <a:gd name="adj" fmla="val 23077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264408" y="382219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36592" y="210312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736592" y="2103120"/>
            <a:ext cx="2011680" cy="38404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736592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국회 의안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828032" y="2596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입법이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시도되었나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965192" y="3182112"/>
            <a:ext cx="1554480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4828032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발의 · 의결현황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포함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49824" y="3822192"/>
            <a:ext cx="585216" cy="237744"/>
          </a:xfrm>
          <a:prstGeom prst="roundRect">
            <a:avLst>
              <a:gd name="adj" fmla="val 23077"/>
            </a:avLst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449824" y="382219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22008" y="210312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6922008" y="2103120"/>
            <a:ext cx="2011680" cy="384048"/>
          </a:xfrm>
          <a:prstGeom prst="rect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6922008" y="2103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해외사례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013448" y="2596896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나라가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시행했나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7150608" y="3182112"/>
            <a:ext cx="1554480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7013448" y="3291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OECD OPSI</a:t>
            </a:r>
            <a:endParaRPr lang="en-US" sz="10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1,015건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635240" y="3822192"/>
            <a:ext cx="585216" cy="237744"/>
          </a:xfrm>
          <a:prstGeom prst="roundRect">
            <a:avLst>
              <a:gd name="adj" fmla="val 23077"/>
            </a:avLst>
          </a:prstGeom>
          <a:solidFill>
            <a:srgbClr val="E8EEF8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7635240" y="3822192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4526280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457200" y="45262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집행 · 검토 · 입법 · 해외 — 한 질문에 한 소스. 교차 확인이 판정의 근거가 됩니다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검증 통로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통로 ① 재정 · ③ 국회 의안 — 집행과 입법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1783080"/>
            <a:ext cx="411480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576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재정 (세출예산)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2240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"예산이 붙어 집행되었나"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2606040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704088" y="2606040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사업명 + 예산 시계열을 조회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566928" y="2953512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704088" y="2953512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연도 예산이 0이면 종료된 사업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566928" y="3300984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704088" y="3300984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존재 = 집행의 직접 증거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566928" y="3648456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704088" y="3648456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제목만으로는 설계 동일성을 알 수 없음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663440" y="178308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66344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국회 의안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800600" y="2240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"입법이 시도되었나"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64608" y="2606040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5001768" y="2606040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의안명 + 발의자 + 의결현황 조회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4864608" y="2953512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39" name="Text 37"/>
          <p:cNvSpPr/>
          <p:nvPr/>
        </p:nvSpPr>
        <p:spPr>
          <a:xfrm>
            <a:off x="5001768" y="2953512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법률안은 제안이유·주요내용 본문까지 확보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4864608" y="3300984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5001768" y="3300984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가결 = 제도화 완료 / 부결 = 강한 반증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4864608" y="3648456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20" dirty="0"/>
          </a:p>
        </p:txBody>
      </p:sp>
      <p:sp>
        <p:nvSpPr>
          <p:cNvPr id="43" name="Text 41"/>
          <p:cNvSpPr/>
          <p:nvPr/>
        </p:nvSpPr>
        <p:spPr>
          <a:xfrm>
            <a:off x="5001768" y="3648456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임기만료폐기는 기각이 아님 — 감점 근거로 쓰지 않음</a:t>
            </a:r>
            <a:endParaRPr lang="en-US" sz="1020" dirty="0"/>
          </a:p>
        </p:txBody>
      </p:sp>
      <p:sp>
        <p:nvSpPr>
          <p:cNvPr id="44" name="Shape 42"/>
          <p:cNvSpPr/>
          <p:nvPr/>
        </p:nvSpPr>
        <p:spPr>
          <a:xfrm>
            <a:off x="365760" y="4206240"/>
            <a:ext cx="8412480" cy="749808"/>
          </a:xfrm>
          <a:prstGeom prst="rect">
            <a:avLst/>
          </a:prstGeom>
          <a:solidFill>
            <a:srgbClr val="FFF8E8"/>
          </a:solidFill>
          <a:ln w="12700">
            <a:solidFill>
              <a:srgbClr val="E8D5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566928" y="42976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7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1371600" y="4279392"/>
            <a:ext cx="7269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국회 발의안 상당수는 심사가 끝나지 않은 채 "임기만료폐기"로 사라집니다.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이를 "국회에서 폐기된 아이디어"로 읽으면 오판이므로, 판정 규칙에서 명시적으로 배제했습니다.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검증 통로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통로 ② KDI 연구 — 2차원 판정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65760" y="17007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키워드 일치가 아니라, 아이디어를 대상×수단×영역으로 분해해 문헌마다 두 축으로 판정합니다.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2084832"/>
            <a:ext cx="4114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65760" y="2084832"/>
            <a:ext cx="4114800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5760" y="20848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중첩도 — 얼마나 겹치는가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252374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97280" y="252374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3축이 한 자리에서 일치 — 신규 아님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28529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N1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97280" y="285292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하나가 다르거나 흩어져 있음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1821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N2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97280" y="318211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 하나만 강하게 겹침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5112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N3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97280" y="351129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영역만 중첩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38404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N4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97280" y="3840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무관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084832"/>
            <a:ext cx="4114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663440" y="2084832"/>
            <a:ext cx="4114800" cy="329184"/>
          </a:xfrm>
          <a:prstGeom prst="rect">
            <a:avLst/>
          </a:prstGeom>
          <a:solidFill>
            <a:srgbClr val="1E4E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663440" y="208483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— 어떻게 쓸 것인가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846320" y="252374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440680" y="2523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제도화·집행 — 강한 반증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2852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7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경합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40680" y="2852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수단을 이미 제안 — 차별화 필요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31821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40680" y="3182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효과분석만 — 인용해 정당화에 사용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35112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선례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440680" y="35112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영역은 다르나 설계 참조 가능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46320" y="3840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A93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무관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544068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없음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370832"/>
            <a:ext cx="841248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57200" y="43708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"중첩도가 높다"와 "위협적이다"는 다릅니다 — 같은 주제라도 역할이 '근거'면 감점이 아니라 인용처입니다.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검증 통로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통로 ④ 해외사례 — OECD OPSI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2011680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" y="19019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1,015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65760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4EE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 사례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51176" y="178308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2551176" y="19019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551176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국가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36592" y="178308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736592" y="19019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1,015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736592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확보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922008" y="178308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922008" y="19019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922008" y="2377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 수준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2852928"/>
            <a:ext cx="26791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512064" y="297180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답하는가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12064" y="3273552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12064" y="3364992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649224" y="336499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 정부가 실제로 시행했는가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512064" y="3694176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649224" y="369417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미발견이어도 해외 선례 반영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512064" y="402336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649224" y="402336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"국내 최초"와 "세계 최초"를 구분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3227832" y="2852928"/>
            <a:ext cx="26791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374136" y="297180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들어 있나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374136" y="3273552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3374136" y="3364992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3511296" y="336499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문제·해법·혁신요소·성과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3374136" y="3694176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47" name="Text 45"/>
          <p:cNvSpPr/>
          <p:nvPr/>
        </p:nvSpPr>
        <p:spPr>
          <a:xfrm>
            <a:off x="3511296" y="369417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실패요인·성공조건·복제 가능성</a:t>
            </a:r>
            <a:endParaRPr lang="en-US" sz="980" dirty="0"/>
          </a:p>
        </p:txBody>
      </p:sp>
      <p:sp>
        <p:nvSpPr>
          <p:cNvPr id="48" name="Text 46"/>
          <p:cNvSpPr/>
          <p:nvPr/>
        </p:nvSpPr>
        <p:spPr>
          <a:xfrm>
            <a:off x="3374136" y="402336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49" name="Text 47"/>
          <p:cNvSpPr/>
          <p:nvPr/>
        </p:nvSpPr>
        <p:spPr>
          <a:xfrm>
            <a:off x="3511296" y="402336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제목만이 아니라 설계 본문까지 대조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6089904" y="2852928"/>
            <a:ext cx="267919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236208" y="297180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확보했나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236208" y="3273552"/>
            <a:ext cx="2386584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6236208" y="3364992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54" name="Text 52"/>
          <p:cNvSpPr/>
          <p:nvPr/>
        </p:nvSpPr>
        <p:spPr>
          <a:xfrm>
            <a:off x="6373368" y="3364992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OECD 공개 사례를 정리해 로컬 코퍼스 구축</a:t>
            </a:r>
            <a:endParaRPr lang="en-US" sz="980" dirty="0"/>
          </a:p>
        </p:txBody>
      </p:sp>
      <p:sp>
        <p:nvSpPr>
          <p:cNvPr id="55" name="Text 53"/>
          <p:cNvSpPr/>
          <p:nvPr/>
        </p:nvSpPr>
        <p:spPr>
          <a:xfrm>
            <a:off x="6236208" y="3694176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56" name="Text 54"/>
          <p:cNvSpPr/>
          <p:nvPr/>
        </p:nvSpPr>
        <p:spPr>
          <a:xfrm>
            <a:off x="6373368" y="3694176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수집 차단 시 우회하지 않음</a:t>
            </a:r>
            <a:endParaRPr lang="en-US" sz="980" dirty="0"/>
          </a:p>
        </p:txBody>
      </p:sp>
      <p:sp>
        <p:nvSpPr>
          <p:cNvPr id="57" name="Text 55"/>
          <p:cNvSpPr/>
          <p:nvPr/>
        </p:nvSpPr>
        <p:spPr>
          <a:xfrm>
            <a:off x="6236208" y="4023360"/>
            <a:ext cx="128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980" dirty="0"/>
          </a:p>
        </p:txBody>
      </p:sp>
      <p:sp>
        <p:nvSpPr>
          <p:cNvPr id="58" name="Text 56"/>
          <p:cNvSpPr/>
          <p:nvPr/>
        </p:nvSpPr>
        <p:spPr>
          <a:xfrm>
            <a:off x="6373368" y="4023360"/>
            <a:ext cx="22494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기관이 설명할 수 있는 방식만 채택</a:t>
            </a:r>
            <a:endParaRPr lang="en-US" sz="980" dirty="0"/>
          </a:p>
        </p:txBody>
      </p:sp>
      <p:sp>
        <p:nvSpPr>
          <p:cNvPr id="59" name="Shape 57"/>
          <p:cNvSpPr/>
          <p:nvPr/>
        </p:nvSpPr>
        <p:spPr>
          <a:xfrm>
            <a:off x="365760" y="4590288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457200" y="45902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A급(해외·자기신고) — 각국이 스스로 신고한 사례로, 성과는 독립 검증되지 않았습니다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왜 믿을 수 있나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등급 — A급과 B급을 섞지 않는다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4114800" cy="1965960"/>
          </a:xfrm>
          <a:prstGeom prst="rect">
            <a:avLst/>
          </a:prstGeom>
          <a:solidFill>
            <a:srgbClr val="F0F9F3"/>
          </a:solidFill>
          <a:ln w="15240">
            <a:solidFill>
              <a:srgbClr val="2E7D4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30352" y="1920240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A급 — 조회로 확인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0352" y="2286000"/>
            <a:ext cx="3785616" cy="10973"/>
          </a:xfrm>
          <a:prstGeom prst="rect">
            <a:avLst/>
          </a:prstGeom>
          <a:solidFill>
            <a:srgbClr val="2E7D4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30352" y="237744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" y="2377440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A급: 재정·KDI·의안 조회 결과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" y="269748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" y="2697480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A급(해외): OPSI — 각국 자기신고, 성과 미검증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30175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" y="3017520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사업명·연도·부처·예산·의안명 인용 가능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" y="333756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" y="3337560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단, 설계가 같음을 함께 논증해야 감점 근거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1783080"/>
            <a:ext cx="4114800" cy="1965960"/>
          </a:xfrm>
          <a:prstGeom prst="rect">
            <a:avLst/>
          </a:prstGeom>
          <a:solidFill>
            <a:srgbClr val="FFF8E8"/>
          </a:solidFill>
          <a:ln w="15240">
            <a:solidFill>
              <a:srgbClr val="B7791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828032" y="1920240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B급 — 모델의 기억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28032" y="2286000"/>
            <a:ext cx="3785616" cy="10973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828032" y="237744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65192" y="2377440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조회로 검증되지 않은 AI의 배경지식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28032" y="269748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65192" y="2697480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고유명사(사업명·연도) 인용 금지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28032" y="3017520"/>
            <a:ext cx="128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65192" y="3017520"/>
            <a:ext cx="3648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"유사 취지의 바우처 계열이 존재" 수준의 유형 진술만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3886200"/>
            <a:ext cx="841248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66928" y="3986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구분하는가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6928" y="429768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04088" y="429768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그럴듯하게 지어낸 사업명이 공문서에 인용되는 것을 구조적으로 차단합니다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6928" y="4572000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04088" y="4572000"/>
            <a:ext cx="7909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담당자는 A급 근거만 그대로 인용하고, B급은 "확인이 필요한 단서"로 취급하면 됩니다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왜 믿을 수 있나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미발견은 독창성을 확정하지 않는다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55648"/>
            <a:ext cx="8412480" cy="868680"/>
          </a:xfrm>
          <a:prstGeom prst="rect">
            <a:avLst/>
          </a:prstGeom>
          <a:solidFill>
            <a:srgbClr val="FDF2F2"/>
          </a:solidFill>
          <a:ln w="12700">
            <a:solidFill>
              <a:srgbClr val="F0C0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66928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"찾지 못했다"가 될 수 있는 네 가지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213969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실제로 선례가 없다        ②  이름이 달라 검색이 놓쳤다</a:t>
            </a:r>
            <a:endParaRPr lang="en-US" sz="103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3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데이터가 못 덮는 영역(지자체·기금·행정지침)        ④  질의어가 부실했다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오판 방지 장치 3종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2679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12064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321868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방향성 역전 감지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12064" y="3547872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"정부가 AI를 쓴다"와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"기업이 AI를 배운다"는 반대 정책 —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축이 겹쳐도 별도 규칙으로 판별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27832" y="3108960"/>
            <a:ext cx="2679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374136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730752" y="321868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이름만 겹침 배제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374136" y="3547872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제목이 같아도 대상·수단이 다르면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오히려 독창성의 근거 —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대조를 의무화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9904" y="3108960"/>
            <a:ext cx="267919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236208" y="3200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592824" y="321868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재현율 통제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236208" y="3547872"/>
            <a:ext cx="2386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반드시 걸려야 할 문헌을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회수하지 못하면 결론을 내지 않고</a:t>
            </a:r>
            <a:endParaRPr lang="en-US" sz="900" dirty="0"/>
          </a:p>
          <a:p>
            <a:pPr marL="0" indent="0">
              <a:lnSpc>
                <a:spcPct val="122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보류로 처리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498848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49884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결론은 "선례 없음"이 아니라 "N개 질의에서 미발견" — 확신도는 최대 '중'으로 제한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왜 믿을 수 있나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편향을 구조로 막는다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65760" y="1719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"공정하게 하겠다"는 다짐이 아니라, 편향이 물리적으로 불가능하도록 역할과 절차를 나눴습니다.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65760" y="2103120"/>
            <a:ext cx="201168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576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역할 분리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25786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질문자는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점수를 모른다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" y="3200400"/>
            <a:ext cx="1554480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" y="33101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질문자에게 채점 기준을</a:t>
            </a:r>
            <a:endParaRPr lang="en-US" sz="92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주지 않는다 — 점수를 향해</a:t>
            </a:r>
            <a:endParaRPr lang="en-US" sz="92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유도할 수 없다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2551176" y="210312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2551176" y="2103120"/>
            <a:ext cx="201168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551176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근거 인용 강제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642616" y="25786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없으면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불충족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79776" y="3200400"/>
            <a:ext cx="1554480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2642616" y="33101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충족 판정에는 "턴 N" 인용</a:t>
            </a:r>
            <a:endParaRPr lang="en-US" sz="92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— 얼버무린 답변과</a:t>
            </a:r>
            <a:endParaRPr lang="en-US" sz="92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지어낸 근거를 차단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4736592" y="210312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736592" y="2103120"/>
            <a:ext cx="201168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736592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코드가 강제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28032" y="25786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흐름과 산술은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손대지 않는다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65192" y="3200400"/>
            <a:ext cx="1554480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828032" y="33101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전이·가중평균은</a:t>
            </a:r>
            <a:endParaRPr lang="en-US" sz="92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프로그램이 처리 —</a:t>
            </a:r>
            <a:endParaRPr lang="en-US" sz="92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판단만 담당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6922008" y="2103120"/>
            <a:ext cx="20116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6922008" y="2103120"/>
            <a:ext cx="2011680" cy="3657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922008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블라인드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013448" y="25786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참가자에게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보여주지 않는다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50608" y="3200400"/>
            <a:ext cx="1554480" cy="10973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7013448" y="331012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모범답안·완성 예시·점수를</a:t>
            </a:r>
            <a:endParaRPr lang="en-US" sz="92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 — 앵커링과</a:t>
            </a:r>
            <a:endParaRPr lang="en-US" sz="92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2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게임화를 방지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365760" y="4526280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57200" y="452628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역할에 서로 다른 프롬프트와 입력을 줍니다 — 역할 간 오염은 막으나, 같은 모델이므로 모델 자체의 편향은 사람 판정과 대조해야 드러납니다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왜 믿을 수 있나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판정의 검증 — 측정된 것과 확인되지 않은 것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55648"/>
            <a:ext cx="4114800" cy="2487168"/>
          </a:xfrm>
          <a:prstGeom prst="rect">
            <a:avLst/>
          </a:prstGeom>
          <a:solidFill>
            <a:srgbClr val="F0F9F3"/>
          </a:solidFill>
          <a:ln w="15240">
            <a:solidFill>
              <a:srgbClr val="2E7D4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30352" y="1847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측정한 것 · 한 번 관측한 것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30352" y="21031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판별력 시험 (n = 10)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23317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진부 아이디어 5건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2926080" y="23317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4.23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566928" y="2560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창의 아이디어 5건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2926080" y="2560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8.50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566928" y="27889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그룹 분포 겹침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2926080" y="2788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80" b="1" dirty="0">
                <a:solidFill>
                  <a:srgbClr val="2E7D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530352" y="304495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채점 간 불일치 (30건 기준)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32552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절대차 2.03점 · 3점 이상 괴리 7건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530352" y="351129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 내성 · LLM 대필 시험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" y="37216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장황 재작성(1건): 점수 상승 없음 (5→4)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566928" y="39136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대필(1쌍): 5.2 → 8.0 · 대응은 검토 단계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4663440" y="1755648"/>
            <a:ext cx="4114800" cy="2487168"/>
          </a:xfrm>
          <a:prstGeom prst="rect">
            <a:avLst/>
          </a:prstGeom>
          <a:solidFill>
            <a:srgbClr val="FDF2F2"/>
          </a:solidFill>
          <a:ln w="15240">
            <a:solidFill>
              <a:srgbClr val="F0C0C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828032" y="1847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확인되지 않은 것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846320" y="2176272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83480" y="21762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판정과의 일치도 (심사지 준비 · 미실시)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2523744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83480" y="25237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대화 재채점 시 재현성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2871216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83480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 사례에서의 판별력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3218688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83480" y="32186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표현력 편향의 크기 (일부만 확인)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46320" y="3566160"/>
            <a:ext cx="128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83480" y="3566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중복 제안 탐지율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65760" y="4334256"/>
            <a:ext cx="841248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66928" y="43891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판정력이 입증된 범위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66928" y="460857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표본 10건 · 극단 사례 한정. 문항·문답·채점이 모두 같은 모델이라 판별력과 개념 공유를 가를 수 없습니다.</a:t>
            </a:r>
            <a:endParaRPr lang="en-US" sz="96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6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국민 제안은 중간대에 몰리므로, 경계 사례 판별력과 전문가 일치도는 도입 전 별도 검증이 필요합니다.</a:t>
            </a:r>
            <a:endParaRPr lang="en-US" sz="96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구축과 운영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만들었나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365760" y="1783080"/>
            <a:ext cx="2011680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5760" y="1783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" y="2231136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문답·결과 웹 화면</a:t>
            </a:r>
            <a:endParaRPr lang="en-US" sz="98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음성 입력 · 문답 저장</a:t>
            </a:r>
            <a:endParaRPr lang="en-US" sz="98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Word/PDF 불러와 재평가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2551176" y="17830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2551176" y="1783080"/>
            <a:ext cx="2011680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551176" y="1783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엔진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60904" y="2231136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문답 생성 · 이원 채점</a:t>
            </a:r>
            <a:endParaRPr lang="en-US" sz="98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명세 추출 · 선례 판정</a:t>
            </a:r>
            <a:endParaRPr lang="en-US" sz="98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규칙은 문서로 분리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4736592" y="17830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4736592" y="1783080"/>
            <a:ext cx="2011680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736592" y="1783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0" y="2231136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KDI 발간물 7,362건</a:t>
            </a:r>
            <a:endParaRPr lang="en-US" sz="98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OPSI 1,015건 (로컬)</a:t>
            </a:r>
            <a:endParaRPr lang="en-US" sz="98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재정 · 국회 의안 (조회)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922008" y="178308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922008" y="1783080"/>
            <a:ext cx="2011680" cy="32918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922008" y="17830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031736" y="2231136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연구용 · 공개용 2종</a:t>
            </a:r>
            <a:endParaRPr lang="en-US" sz="98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 코드 접근 통제</a:t>
            </a:r>
            <a:endParaRPr lang="en-US" sz="98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8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키는 서버에 미보관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365760" y="3337560"/>
            <a:ext cx="8412480" cy="1572768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66928" y="3438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확보에서 지킨 원칙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03504" y="3776472"/>
            <a:ext cx="137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8096" y="37764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불안정한 소스는 끈다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3474720" y="377647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연구정보 API가 응답을 보장하지 못해 중단하고, 로컬 코퍼스로 대체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03504" y="4142232"/>
            <a:ext cx="137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8096" y="414223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우회하지 않는다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3474720" y="414223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사이트의 자동 수집 차단을 기술적으로 우회하지 않고, 공개 자료를 정리해 구축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03504" y="4507992"/>
            <a:ext cx="137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8096" y="450799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외국 상용 서비스에 의존하지 않는다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3474720" y="4507992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유료 해외 정책DB 대신 OECD 공개 사례로 코퍼스를 자체 확보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구축과 운영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비용 — 월 처리량별 추정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365760" y="17190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아이디어 1건당 약 2.8만~4.3만 토큰 · 캐싱 적용 시 추정(현재 미구현) · 환율 1,500원 기준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103120"/>
            <a:ext cx="1554480" cy="40233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365760" y="210312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처리량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920240" y="2103120"/>
            <a:ext cx="1714500" cy="40233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920240" y="2103120"/>
            <a:ext cx="17145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모델 · 단문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34740" y="2103120"/>
            <a:ext cx="1714500" cy="40233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634740" y="2103120"/>
            <a:ext cx="17145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모델 · 장문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49240" y="2103120"/>
            <a:ext cx="1714500" cy="40233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349240" y="2103120"/>
            <a:ext cx="17145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고급 모델 · 단문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63740" y="2103120"/>
            <a:ext cx="1714500" cy="402336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063740" y="2103120"/>
            <a:ext cx="17145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고급 모델 · 장문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2505456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65760" y="250545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920240" y="2505456"/>
            <a:ext cx="17145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1920240" y="2505456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14만 원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34740" y="2505456"/>
            <a:ext cx="17145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3634740" y="2505456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18만 원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49240" y="2505456"/>
            <a:ext cx="17145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349240" y="2505456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24만 원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063740" y="2505456"/>
            <a:ext cx="17145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063740" y="2505456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30만 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2926080"/>
            <a:ext cx="15544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365760" y="29260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1,000건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920240" y="2926080"/>
            <a:ext cx="17145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920240" y="2926080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29만 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34740" y="2926080"/>
            <a:ext cx="17145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3634740" y="2926080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36만 원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349240" y="2926080"/>
            <a:ext cx="17145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5349240" y="2926080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48만 원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063740" y="2926080"/>
            <a:ext cx="17145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7063740" y="2926080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60만 원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3346704"/>
            <a:ext cx="1554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365760" y="334670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2,000건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920240" y="3346704"/>
            <a:ext cx="17145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1920240" y="3346704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57만 원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634740" y="3346704"/>
            <a:ext cx="17145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3634740" y="3346704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72만 원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349240" y="3346704"/>
            <a:ext cx="17145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5349240" y="3346704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96만 원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063740" y="3346704"/>
            <a:ext cx="17145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7063740" y="3346704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120만 원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65760" y="3767328"/>
            <a:ext cx="15544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365760" y="376732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10,000건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920240" y="3767328"/>
            <a:ext cx="17145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1920240" y="3767328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285만 원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634740" y="3767328"/>
            <a:ext cx="17145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3634740" y="3767328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360만 원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5349240" y="3767328"/>
            <a:ext cx="17145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5349240" y="3767328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480만 원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7063740" y="3767328"/>
            <a:ext cx="17145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7063740" y="3767328"/>
            <a:ext cx="1714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600만 원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365760" y="4315968"/>
            <a:ext cx="8412480" cy="621792"/>
          </a:xfrm>
          <a:prstGeom prst="rect">
            <a:avLst/>
          </a:prstGeom>
          <a:solidFill>
            <a:srgbClr val="EBF5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1,000건을 표준 모델로 처리할 경우 약 29만~36만 원 (API 비용만)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457200" y="46451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캐싱 미적용 시 입력 토큰이 전액 과금되어 실제 비용은 이보다 큼 · 인건비·서버·코퍼스 갱신 비용 제외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 — 정책 아이디어 평가 시스템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680960" y="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/ 29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524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048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대화·채점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solidFill>
            <a:srgbClr val="F1F5F9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096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통로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20000" y="502920"/>
            <a:ext cx="152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신뢰성·운영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9875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구축과 운영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1243584"/>
            <a:ext cx="54864" cy="31089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12064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한계와 다음 단계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365760" y="1783080"/>
            <a:ext cx="4114800" cy="2514600"/>
          </a:xfrm>
          <a:prstGeom prst="rect">
            <a:avLst/>
          </a:prstGeom>
          <a:solidFill>
            <a:srgbClr val="FFF8E8"/>
          </a:solidFill>
          <a:ln w="15240">
            <a:solidFill>
              <a:srgbClr val="B7791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30352" y="1920240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7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현재의 한계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0352" y="2286000"/>
            <a:ext cx="3785616" cy="10973"/>
          </a:xfrm>
          <a:prstGeom prst="rect">
            <a:avLst/>
          </a:prstGeom>
          <a:solidFill>
            <a:srgbClr val="B779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30352" y="2395728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" y="2395728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표현력·도구 격차 — LLM 대필 시 5.2→8.0 관측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" y="2697480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" y="2697480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법적·규제 타당성은 채점에 미포함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" y="2999232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" y="2999232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지자체 자체사업·기금사업 포착이 불균등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" y="3300984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7512" y="3300984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재정 자료는 최근 5개 시점(결측 있음)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0352" y="3602736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" y="3602736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코퍼스는 OECD 등재·자기신고 사례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" y="3904488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7512" y="3904488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판정은 최종 결론이 아니라 검토 후보 목록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1783080"/>
            <a:ext cx="4114800" cy="2514600"/>
          </a:xfrm>
          <a:prstGeom prst="rect">
            <a:avLst/>
          </a:prstGeom>
          <a:solidFill>
            <a:srgbClr val="EFF4FB"/>
          </a:solidFill>
          <a:ln w="15240">
            <a:solidFill>
              <a:srgbClr val="2563E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828032" y="1920240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28032" y="2286000"/>
            <a:ext cx="3785616" cy="10973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828032" y="2395728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65192" y="2395728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전문가 판정과의 일치도 측정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28032" y="2697480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65192" y="2697480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대화 재채점 재현성 검증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28032" y="2999232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65192" y="2999232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체크리스트에 구체성 요건 도입(열거 방지)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28032" y="3300984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65192" y="3300984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모두에게 동일한 작성 보조 제공 검토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828032" y="3602736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65192" y="3602736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부처 배정·이관 절차와 연계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28032" y="3904488"/>
            <a:ext cx="1280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65192" y="3904488"/>
            <a:ext cx="36484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이력을 국가 아이디어 코퍼스로 축적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4480560"/>
            <a:ext cx="8412480" cy="420624"/>
          </a:xfrm>
          <a:prstGeom prst="rect">
            <a:avLst/>
          </a:prstGeom>
          <a:solidFill>
            <a:srgbClr val="EBF5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57200" y="448056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시스템은 담당자를 대체하지 않습니다 — 판단의 근거를 갖춘 상태로 만들어 줍니다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 국민 아이디어 등록제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국민의 제안에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있는 답을 돌려줍니다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6928" y="3246120"/>
            <a:ext cx="2377440" cy="1828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대화로 캐묻고, 국가 데이터로 확인하고, 확신도와 함께 말합니다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0" y="4526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3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/ 29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3671</Words>
  <Application>Microsoft Office PowerPoint</Application>
  <PresentationFormat>화면 슬라이드 쇼(16:9)</PresentationFormat>
  <Paragraphs>903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2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재준 김</cp:lastModifiedBy>
  <cp:revision>2</cp:revision>
  <dcterms:created xsi:type="dcterms:W3CDTF">2026-08-04T12:13:23Z</dcterms:created>
  <dcterms:modified xsi:type="dcterms:W3CDTF">2026-08-04T21:56:55Z</dcterms:modified>
</cp:coreProperties>
</file>